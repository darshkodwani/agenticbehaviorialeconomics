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1729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BD4E5"/>
          </a:solidFill>
          <a:ln w="12700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AGENT-AGENT · METRICS · BENCHMARKS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62895" y="246888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0C1B30"/>
          </a:solidFill>
          <a:ln w="12700">
            <a:solidFill>
              <a:srgbClr val="3F65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2895" y="246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BEHAVIOURS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Agent-agent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9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dimensions, the metrics that quantify them, and the analytical and empirical reference points that anchor evaluation.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691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METRIC(S)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9788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REFERENCE / BENCHMARK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12680" y="16916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11277295" cy="0"/>
          </a:xfrm>
          <a:prstGeom prst="line">
            <a:avLst/>
          </a:prstGeom>
          <a:noFill/>
          <a:ln w="12700">
            <a:solidFill>
              <a:srgbClr val="2A6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9788" y="2308860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9788" y="23088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Cooperating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217627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Cooperation rate (last 20% of horizon)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1762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Humans: 30–60% in finitely-repeated PD without communication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12680" y="217627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1, 5, 6, 7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06624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9788" y="2875788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9788" y="28757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0" y="2743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Convergence rate, Convergence speed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97880" y="2743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30–50% early; &gt;80% with repetition (matching games)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12680" y="27432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5, 8, 9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73552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9788" y="3442716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9788" y="34427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3101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Colluding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34640" y="33101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Collusion index (C)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97880" y="3310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Humans: C ≈ 0.1–0.3 · Q-learning: C ≈ 0.5–0.8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12680" y="331012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10, 11, 12, 13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9788" y="4009644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9788" y="40096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0120" y="387705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Forgiving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834640" y="387705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Forgiveness rate, Forgiveness fraction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97880" y="38770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Recovery: 1–4 rounds in noisy IPD; grim strategies &lt;10%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012680" y="3877056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1, 14, 15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407408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89788" y="4576572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9788" y="45765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60120" y="4443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Disclosing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834640" y="44439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Disclosure rate, Fidelity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97880" y="4443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30–50% sharing of critical info in hidden-profile tasks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12680" y="444398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16, 17, 18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974336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89788" y="5143500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89788" y="51435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60120" y="5010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Coalescing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834640" y="5010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Coalition formation rate, Coalition stability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97880" y="50109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60–80% form minimum-winning coalitions (Riker's principle)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012680" y="501091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19, 20, 21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5541264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89788" y="5710428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89788" y="57104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60120" y="55778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Anticipating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2834640" y="5577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 depth (k)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897880" y="5577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 k ≈ 1.5 (adults) · k ≈ 3 (game theorists)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012680" y="557784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22, 23, 24, 25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6108192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6281928"/>
            <a:ext cx="548640" cy="0"/>
          </a:xfrm>
          <a:prstGeom prst="line">
            <a:avLst/>
          </a:prstGeom>
          <a:noFill/>
          <a:ln w="12700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57200" y="63276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7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numbers correspond to the citation list in part 2 · Benchmark ranges drawn from cited experimental literature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BD4E5"/>
          </a:solidFill>
          <a:ln w="12700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AGENT-HUMAN · METRICS · BENCHMARKS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62895" y="246888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0C1B30"/>
          </a:solidFill>
          <a:ln w="12700">
            <a:solidFill>
              <a:srgbClr val="3F65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62895" y="246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BEHAVIOURS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Agent-human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9D2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dimensions of the user, the metrics that quantify them, and the empirical reference points that anchor evaluation.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691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METRIC(S)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9788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REFERENCE / BENCHMARK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12680" y="169164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b="1" kern="0" spc="300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11277295" cy="0"/>
          </a:xfrm>
          <a:prstGeom prst="line">
            <a:avLst/>
          </a:prstGeom>
          <a:noFill/>
          <a:ln w="12700">
            <a:solidFill>
              <a:srgbClr val="2A6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9788" y="2308860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9788" y="23088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Relying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217627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Acceptance-when-right, Acceptance-when-wrong, Edit fraction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17627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Wrong-acceptance: 6–25% medical · 30–50% legal/financial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12680" y="217627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4, 26, 27, 28, 29, 30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06624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9788" y="2875788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9788" y="28757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2743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0" y="2743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Delegation rate by task type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97880" y="2743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60–80% numeric · &lt;30% creative · collapse for high stakes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12680" y="274320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31, 32, 33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73552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9788" y="3442716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9788" y="34427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3101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34640" y="331012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 rate, Verification appropriateness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97880" y="3310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30–50% early use → 10–20% with experience (uncalibrated)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12680" y="331012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28, 34, 35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9788" y="4009644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9788" y="40096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0120" y="387705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834640" y="387705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Stated trust, Invested trust, Trust–reliance gap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97880" y="38770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Stated trust 4–6/7 · gap 0.5–1.5 in lab studies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012680" y="3877056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4, 36, 37, 38, 39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407408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89788" y="4576572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9788" y="45765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60120" y="444398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Anthropomorphising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834640" y="44439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Anthropomorphism index (AHI)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97880" y="44439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Chatbots: 3.0–4.5/5 · Robots: 4.0–5.0/5 · Replika: 15–25%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012680" y="444398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40, 41, 42, 43, 44, 45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974336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89788" y="5143500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89788" y="51435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60120" y="5010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De-skilling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834640" y="50109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differential (without/with agent)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97880" y="50109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Aviation: 0.7–0.9 · Radiology: 5–15% drop in unassisted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012680" y="501091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2, 46, 47, 48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5541264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89788" y="5710428"/>
            <a:ext cx="237744" cy="237744"/>
          </a:xfrm>
          <a:prstGeom prst="ellipse">
            <a:avLst/>
          </a:prstGeom>
          <a:solidFill>
            <a:srgbClr val="0C1B30"/>
          </a:solidFill>
          <a:ln w="15875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89788" y="57104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D4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60120" y="55778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3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Adapting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2834640" y="5577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frequency, Integration depth, Reliance breadth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897880" y="5577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D2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30–50% abandonment within 90 days for unmandated tools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012680" y="557784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49, 50, 51, 52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6108192"/>
            <a:ext cx="11277295" cy="0"/>
          </a:xfrm>
          <a:prstGeom prst="line">
            <a:avLst/>
          </a:prstGeom>
          <a:noFill/>
          <a:ln w="6350">
            <a:solidFill>
              <a:srgbClr val="1B3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6281928"/>
            <a:ext cx="548640" cy="0"/>
          </a:xfrm>
          <a:prstGeom prst="line">
            <a:avLst/>
          </a:prstGeom>
          <a:noFill/>
          <a:ln w="12700">
            <a:solidFill>
              <a:srgbClr val="5BD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57200" y="632764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7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numbers correspond to the citation list in part 2 · Every cell requires longitudinal observation in real workflows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Microsoft Macintosh PowerPoint</Application>
  <PresentationFormat>Widescreen</PresentationFormat>
  <Paragraphs>94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system behaviours: summary tables</dc:title>
  <dc:subject>PptxGenJS Presentation</dc:subject>
  <dc:creator>Darsh Kodwani</dc:creator>
  <cp:lastModifiedBy>Darsh Kodwani</cp:lastModifiedBy>
  <cp:revision>1</cp:revision>
  <dcterms:created xsi:type="dcterms:W3CDTF">2026-04-29T00:14:37Z</dcterms:created>
  <dcterms:modified xsi:type="dcterms:W3CDTF">2026-04-29T00:16:03Z</dcterms:modified>
</cp:coreProperties>
</file>